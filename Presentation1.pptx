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99E0C8-0DA4-480F-9DD0-292C5B24808E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BD99D2E-00E7-41ED-9A57-97D15F0A75E2}">
      <dgm:prSet/>
      <dgm:spPr/>
      <dgm:t>
        <a:bodyPr/>
        <a:lstStyle/>
        <a:p>
          <a:r>
            <a:rPr lang="en-US" dirty="0"/>
            <a:t>Node types with the highest proportion of “2” labels (i.e. high bias): </a:t>
          </a:r>
        </a:p>
      </dgm:t>
    </dgm:pt>
    <dgm:pt modelId="{2EE9C864-2E37-44A4-97F9-8072FC510DE7}" type="parTrans" cxnId="{9842F38E-9CB0-463E-B670-4A7A8BA7FDC8}">
      <dgm:prSet/>
      <dgm:spPr/>
      <dgm:t>
        <a:bodyPr/>
        <a:lstStyle/>
        <a:p>
          <a:endParaRPr lang="en-US"/>
        </a:p>
      </dgm:t>
    </dgm:pt>
    <dgm:pt modelId="{BDA88EA2-67E9-477D-ADA9-588CFC55169D}" type="sibTrans" cxnId="{9842F38E-9CB0-463E-B670-4A7A8BA7FDC8}">
      <dgm:prSet/>
      <dgm:spPr/>
      <dgm:t>
        <a:bodyPr/>
        <a:lstStyle/>
        <a:p>
          <a:endParaRPr lang="en-US"/>
        </a:p>
      </dgm:t>
    </dgm:pt>
    <dgm:pt modelId="{4EC7C26D-6E3D-4489-9DB2-716ED967EBE4}">
      <dgm:prSet/>
      <dgm:spPr/>
      <dgm:t>
        <a:bodyPr/>
        <a:lstStyle/>
        <a:p>
          <a:r>
            <a:rPr lang="en-US" dirty="0"/>
            <a:t>Drugs </a:t>
          </a:r>
        </a:p>
      </dgm:t>
    </dgm:pt>
    <dgm:pt modelId="{01C77373-8769-4341-A5D8-0F2039DF0458}" type="parTrans" cxnId="{32D30088-D037-4728-A834-3C6D6985E02C}">
      <dgm:prSet/>
      <dgm:spPr/>
      <dgm:t>
        <a:bodyPr/>
        <a:lstStyle/>
        <a:p>
          <a:endParaRPr lang="en-US"/>
        </a:p>
      </dgm:t>
    </dgm:pt>
    <dgm:pt modelId="{57096AF9-D6B8-464F-8BEE-A8D360D4A97B}" type="sibTrans" cxnId="{32D30088-D037-4728-A834-3C6D6985E02C}">
      <dgm:prSet/>
      <dgm:spPr/>
      <dgm:t>
        <a:bodyPr/>
        <a:lstStyle/>
        <a:p>
          <a:endParaRPr lang="en-US"/>
        </a:p>
      </dgm:t>
    </dgm:pt>
    <dgm:pt modelId="{2B3BEAC1-4283-4039-8897-62DDA315BFF8}">
      <dgm:prSet/>
      <dgm:spPr/>
      <dgm:t>
        <a:bodyPr/>
        <a:lstStyle/>
        <a:p>
          <a:r>
            <a:rPr lang="en-US" dirty="0"/>
            <a:t>Proteins </a:t>
          </a:r>
        </a:p>
      </dgm:t>
    </dgm:pt>
    <dgm:pt modelId="{4E91AEEE-82D2-4E53-B6EE-571D2286B18F}" type="parTrans" cxnId="{8F38332A-33BC-43FA-9D67-E830CB6025BB}">
      <dgm:prSet/>
      <dgm:spPr/>
      <dgm:t>
        <a:bodyPr/>
        <a:lstStyle/>
        <a:p>
          <a:endParaRPr lang="en-US"/>
        </a:p>
      </dgm:t>
    </dgm:pt>
    <dgm:pt modelId="{B642A308-BD20-4A43-88DB-310194E25F87}" type="sibTrans" cxnId="{8F38332A-33BC-43FA-9D67-E830CB6025BB}">
      <dgm:prSet/>
      <dgm:spPr/>
      <dgm:t>
        <a:bodyPr/>
        <a:lstStyle/>
        <a:p>
          <a:endParaRPr lang="en-US"/>
        </a:p>
      </dgm:t>
    </dgm:pt>
    <dgm:pt modelId="{0BEE4BB2-67C7-4F21-B927-B58BAD2EB95E}">
      <dgm:prSet/>
      <dgm:spPr/>
      <dgm:t>
        <a:bodyPr/>
        <a:lstStyle/>
        <a:p>
          <a:r>
            <a:rPr lang="en-US" dirty="0"/>
            <a:t>Cells </a:t>
          </a:r>
        </a:p>
      </dgm:t>
    </dgm:pt>
    <dgm:pt modelId="{9A103993-1CF1-42F6-979D-F8CE939B03C6}" type="parTrans" cxnId="{5E4FBA9D-1DC2-4079-818F-E16F8AF247DE}">
      <dgm:prSet/>
      <dgm:spPr/>
      <dgm:t>
        <a:bodyPr/>
        <a:lstStyle/>
        <a:p>
          <a:endParaRPr lang="en-US"/>
        </a:p>
      </dgm:t>
    </dgm:pt>
    <dgm:pt modelId="{0E6A5778-FC54-4BFF-B57C-B32E52C6FC76}" type="sibTrans" cxnId="{5E4FBA9D-1DC2-4079-818F-E16F8AF247DE}">
      <dgm:prSet/>
      <dgm:spPr/>
      <dgm:t>
        <a:bodyPr/>
        <a:lstStyle/>
        <a:p>
          <a:endParaRPr lang="en-US"/>
        </a:p>
      </dgm:t>
    </dgm:pt>
    <dgm:pt modelId="{F7E5230B-5F87-4043-BB18-959F95A1A589}">
      <dgm:prSet/>
      <dgm:spPr/>
      <dgm:t>
        <a:bodyPr/>
        <a:lstStyle/>
        <a:p>
          <a:r>
            <a:rPr lang="en-US"/>
            <a:t>Conditions / Diseases </a:t>
          </a:r>
        </a:p>
      </dgm:t>
    </dgm:pt>
    <dgm:pt modelId="{4336F736-A1F9-4530-BE52-CD36E5B28093}" type="parTrans" cxnId="{B15DD167-3DDD-4C6D-98B2-108CC62FE27D}">
      <dgm:prSet/>
      <dgm:spPr/>
      <dgm:t>
        <a:bodyPr/>
        <a:lstStyle/>
        <a:p>
          <a:endParaRPr lang="en-US"/>
        </a:p>
      </dgm:t>
    </dgm:pt>
    <dgm:pt modelId="{471842DB-33C3-4A4F-821D-D55BF023CFC8}" type="sibTrans" cxnId="{B15DD167-3DDD-4C6D-98B2-108CC62FE27D}">
      <dgm:prSet/>
      <dgm:spPr/>
      <dgm:t>
        <a:bodyPr/>
        <a:lstStyle/>
        <a:p>
          <a:endParaRPr lang="en-US"/>
        </a:p>
      </dgm:t>
    </dgm:pt>
    <dgm:pt modelId="{00F4EC36-8B32-4925-93E8-21859A904388}">
      <dgm:prSet/>
      <dgm:spPr/>
      <dgm:t>
        <a:bodyPr/>
        <a:lstStyle/>
        <a:p>
          <a:r>
            <a:rPr lang="en-US" dirty="0"/>
            <a:t>Biomarkers </a:t>
          </a:r>
        </a:p>
      </dgm:t>
    </dgm:pt>
    <dgm:pt modelId="{D6A19273-E142-40E9-91B0-06C6DF34948A}" type="parTrans" cxnId="{73DD91F2-FBD8-4C74-B471-812693D14C74}">
      <dgm:prSet/>
      <dgm:spPr/>
      <dgm:t>
        <a:bodyPr/>
        <a:lstStyle/>
        <a:p>
          <a:endParaRPr lang="en-US"/>
        </a:p>
      </dgm:t>
    </dgm:pt>
    <dgm:pt modelId="{44AAF43E-086A-4E64-90C2-384A90534504}" type="sibTrans" cxnId="{73DD91F2-FBD8-4C74-B471-812693D14C74}">
      <dgm:prSet/>
      <dgm:spPr/>
      <dgm:t>
        <a:bodyPr/>
        <a:lstStyle/>
        <a:p>
          <a:endParaRPr lang="en-US"/>
        </a:p>
      </dgm:t>
    </dgm:pt>
    <dgm:pt modelId="{8DEE3811-D849-4A8E-8D3A-2A15B7355271}">
      <dgm:prSet/>
      <dgm:spPr/>
      <dgm:t>
        <a:bodyPr/>
        <a:lstStyle/>
        <a:p>
          <a:r>
            <a:rPr lang="en-US" dirty="0"/>
            <a:t>Node types with the highest proportion of “1” labels (i.e. normal bias):</a:t>
          </a:r>
        </a:p>
      </dgm:t>
    </dgm:pt>
    <dgm:pt modelId="{94A5B53D-D9CD-41B0-A09D-788AF5A48CF8}" type="parTrans" cxnId="{3BB2F4A5-AD85-4AD5-832C-673BEDC8974A}">
      <dgm:prSet/>
      <dgm:spPr/>
      <dgm:t>
        <a:bodyPr/>
        <a:lstStyle/>
        <a:p>
          <a:endParaRPr lang="en-US"/>
        </a:p>
      </dgm:t>
    </dgm:pt>
    <dgm:pt modelId="{D7F10D31-CEBF-469A-83F4-0063D734E3C7}" type="sibTrans" cxnId="{3BB2F4A5-AD85-4AD5-832C-673BEDC8974A}">
      <dgm:prSet/>
      <dgm:spPr/>
      <dgm:t>
        <a:bodyPr/>
        <a:lstStyle/>
        <a:p>
          <a:endParaRPr lang="en-US"/>
        </a:p>
      </dgm:t>
    </dgm:pt>
    <dgm:pt modelId="{C282B584-0D59-3945-93E6-0BABA1B8688F}">
      <dgm:prSet/>
      <dgm:spPr/>
      <dgm:t>
        <a:bodyPr/>
        <a:lstStyle/>
        <a:p>
          <a:r>
            <a:rPr lang="en-US" dirty="0"/>
            <a:t>Risk Factors </a:t>
          </a:r>
        </a:p>
      </dgm:t>
    </dgm:pt>
    <dgm:pt modelId="{05CE216D-1F9B-C243-84AB-57BD806E1210}" type="parTrans" cxnId="{E032C841-C493-844C-B4E1-EB7F489DB46F}">
      <dgm:prSet/>
      <dgm:spPr/>
      <dgm:t>
        <a:bodyPr/>
        <a:lstStyle/>
        <a:p>
          <a:endParaRPr lang="en-US"/>
        </a:p>
      </dgm:t>
    </dgm:pt>
    <dgm:pt modelId="{A408F0F4-9A12-0042-B0A2-2A6DB30E6D94}" type="sibTrans" cxnId="{E032C841-C493-844C-B4E1-EB7F489DB46F}">
      <dgm:prSet/>
      <dgm:spPr/>
      <dgm:t>
        <a:bodyPr/>
        <a:lstStyle/>
        <a:p>
          <a:endParaRPr lang="en-US"/>
        </a:p>
      </dgm:t>
    </dgm:pt>
    <dgm:pt modelId="{C31725BC-5989-624B-BBBC-DB5685A65CFA}">
      <dgm:prSet/>
      <dgm:spPr/>
      <dgm:t>
        <a:bodyPr/>
        <a:lstStyle/>
        <a:p>
          <a:r>
            <a:rPr lang="en-US" dirty="0"/>
            <a:t>Imaging  </a:t>
          </a:r>
        </a:p>
      </dgm:t>
    </dgm:pt>
    <dgm:pt modelId="{99119F11-48E3-D04A-946D-368B19F3DEA3}" type="parTrans" cxnId="{B2F70155-F307-8D4C-B907-E1BB3B6325B6}">
      <dgm:prSet/>
      <dgm:spPr/>
      <dgm:t>
        <a:bodyPr/>
        <a:lstStyle/>
        <a:p>
          <a:endParaRPr lang="en-US"/>
        </a:p>
      </dgm:t>
    </dgm:pt>
    <dgm:pt modelId="{1A23B708-CD7A-C24C-AF57-3ADCC3FB25A8}" type="sibTrans" cxnId="{B2F70155-F307-8D4C-B907-E1BB3B6325B6}">
      <dgm:prSet/>
      <dgm:spPr/>
      <dgm:t>
        <a:bodyPr/>
        <a:lstStyle/>
        <a:p>
          <a:endParaRPr lang="en-US"/>
        </a:p>
      </dgm:t>
    </dgm:pt>
    <dgm:pt modelId="{8A5BFCCE-9D82-1643-A4D0-7F500A9C1E39}">
      <dgm:prSet/>
      <dgm:spPr/>
      <dgm:t>
        <a:bodyPr/>
        <a:lstStyle/>
        <a:p>
          <a:r>
            <a:rPr lang="en-US" dirty="0"/>
            <a:t>Cognitive Tests  </a:t>
          </a:r>
        </a:p>
      </dgm:t>
    </dgm:pt>
    <dgm:pt modelId="{D7D24A00-BF86-0F4B-BD94-7F9D92652DD3}" type="parTrans" cxnId="{E3F1F22C-A396-E244-A17F-D17338137E81}">
      <dgm:prSet/>
      <dgm:spPr/>
      <dgm:t>
        <a:bodyPr/>
        <a:lstStyle/>
        <a:p>
          <a:endParaRPr lang="en-US"/>
        </a:p>
      </dgm:t>
    </dgm:pt>
    <dgm:pt modelId="{67357F82-29F8-D744-9A1D-CF311753C3BF}" type="sibTrans" cxnId="{E3F1F22C-A396-E244-A17F-D17338137E81}">
      <dgm:prSet/>
      <dgm:spPr/>
      <dgm:t>
        <a:bodyPr/>
        <a:lstStyle/>
        <a:p>
          <a:endParaRPr lang="en-US"/>
        </a:p>
      </dgm:t>
    </dgm:pt>
    <dgm:pt modelId="{6DE0537F-DF1E-CC4D-BFFB-84D7E3553D11}">
      <dgm:prSet/>
      <dgm:spPr/>
      <dgm:t>
        <a:bodyPr/>
        <a:lstStyle/>
        <a:p>
          <a:r>
            <a:rPr lang="en-US" dirty="0"/>
            <a:t>Clinical Trials</a:t>
          </a:r>
        </a:p>
      </dgm:t>
    </dgm:pt>
    <dgm:pt modelId="{6E611971-F839-8649-98AB-DC2B60523647}" type="parTrans" cxnId="{427A65BF-DEE1-0B4C-AC80-EF41822ADBE5}">
      <dgm:prSet/>
      <dgm:spPr/>
      <dgm:t>
        <a:bodyPr/>
        <a:lstStyle/>
        <a:p>
          <a:endParaRPr lang="en-US"/>
        </a:p>
      </dgm:t>
    </dgm:pt>
    <dgm:pt modelId="{2DCC5D10-C466-D84F-A124-4E9AEE1DDE22}" type="sibTrans" cxnId="{427A65BF-DEE1-0B4C-AC80-EF41822ADBE5}">
      <dgm:prSet/>
      <dgm:spPr/>
      <dgm:t>
        <a:bodyPr/>
        <a:lstStyle/>
        <a:p>
          <a:endParaRPr lang="en-US"/>
        </a:p>
      </dgm:t>
    </dgm:pt>
    <dgm:pt modelId="{9877F432-D54E-D441-8928-37BCCAFD2B43}">
      <dgm:prSet/>
      <dgm:spPr/>
      <dgm:t>
        <a:bodyPr/>
        <a:lstStyle/>
        <a:p>
          <a:r>
            <a:rPr lang="en-US" dirty="0"/>
            <a:t>Pathological Features  </a:t>
          </a:r>
        </a:p>
      </dgm:t>
    </dgm:pt>
    <dgm:pt modelId="{FDF4F351-AE31-4840-B6A9-F19D98A3179A}" type="parTrans" cxnId="{96FEF263-2383-DF49-9355-36BED52A9269}">
      <dgm:prSet/>
      <dgm:spPr/>
      <dgm:t>
        <a:bodyPr/>
        <a:lstStyle/>
        <a:p>
          <a:endParaRPr lang="en-US"/>
        </a:p>
      </dgm:t>
    </dgm:pt>
    <dgm:pt modelId="{62C94B39-C633-7349-AA07-CBF44ABDAD67}" type="sibTrans" cxnId="{96FEF263-2383-DF49-9355-36BED52A9269}">
      <dgm:prSet/>
      <dgm:spPr/>
      <dgm:t>
        <a:bodyPr/>
        <a:lstStyle/>
        <a:p>
          <a:endParaRPr lang="en-US"/>
        </a:p>
      </dgm:t>
    </dgm:pt>
    <dgm:pt modelId="{91FEA60A-52E8-544D-A135-8D95E6B4A2ED}" type="pres">
      <dgm:prSet presAssocID="{6499E0C8-0DA4-480F-9DD0-292C5B24808E}" presName="linear" presStyleCnt="0">
        <dgm:presLayoutVars>
          <dgm:dir/>
          <dgm:animLvl val="lvl"/>
          <dgm:resizeHandles val="exact"/>
        </dgm:presLayoutVars>
      </dgm:prSet>
      <dgm:spPr/>
    </dgm:pt>
    <dgm:pt modelId="{8F581BE7-91D6-6244-A7CB-12BCDCAB05FB}" type="pres">
      <dgm:prSet presAssocID="{CBD99D2E-00E7-41ED-9A57-97D15F0A75E2}" presName="parentLin" presStyleCnt="0"/>
      <dgm:spPr/>
    </dgm:pt>
    <dgm:pt modelId="{B74E43FE-6CEF-3B45-B4FC-35B997370F2D}" type="pres">
      <dgm:prSet presAssocID="{CBD99D2E-00E7-41ED-9A57-97D15F0A75E2}" presName="parentLeftMargin" presStyleLbl="node1" presStyleIdx="0" presStyleCnt="2"/>
      <dgm:spPr/>
    </dgm:pt>
    <dgm:pt modelId="{F1C09B65-F6EA-FF48-89D3-8D098095652C}" type="pres">
      <dgm:prSet presAssocID="{CBD99D2E-00E7-41ED-9A57-97D15F0A75E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50F8299-656E-114D-893E-DA1B0651C6A2}" type="pres">
      <dgm:prSet presAssocID="{CBD99D2E-00E7-41ED-9A57-97D15F0A75E2}" presName="negativeSpace" presStyleCnt="0"/>
      <dgm:spPr/>
    </dgm:pt>
    <dgm:pt modelId="{D7044797-CC69-C947-83A2-975A83D7CE89}" type="pres">
      <dgm:prSet presAssocID="{CBD99D2E-00E7-41ED-9A57-97D15F0A75E2}" presName="childText" presStyleLbl="conFgAcc1" presStyleIdx="0" presStyleCnt="2">
        <dgm:presLayoutVars>
          <dgm:bulletEnabled val="1"/>
        </dgm:presLayoutVars>
      </dgm:prSet>
      <dgm:spPr/>
    </dgm:pt>
    <dgm:pt modelId="{6BC507BF-DC6D-6F4F-9794-E338F97473E4}" type="pres">
      <dgm:prSet presAssocID="{BDA88EA2-67E9-477D-ADA9-588CFC55169D}" presName="spaceBetweenRectangles" presStyleCnt="0"/>
      <dgm:spPr/>
    </dgm:pt>
    <dgm:pt modelId="{2CF81154-CA30-C34F-96AD-EA2B02FD5923}" type="pres">
      <dgm:prSet presAssocID="{8DEE3811-D849-4A8E-8D3A-2A15B7355271}" presName="parentLin" presStyleCnt="0"/>
      <dgm:spPr/>
    </dgm:pt>
    <dgm:pt modelId="{0FE40ABA-6B65-FD47-8C9E-9B46E0109DB7}" type="pres">
      <dgm:prSet presAssocID="{8DEE3811-D849-4A8E-8D3A-2A15B7355271}" presName="parentLeftMargin" presStyleLbl="node1" presStyleIdx="0" presStyleCnt="2"/>
      <dgm:spPr/>
    </dgm:pt>
    <dgm:pt modelId="{BBD17634-EA88-4F46-85CD-143595E24225}" type="pres">
      <dgm:prSet presAssocID="{8DEE3811-D849-4A8E-8D3A-2A15B735527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74230ED-BB44-C84C-9E83-44FF6BE41422}" type="pres">
      <dgm:prSet presAssocID="{8DEE3811-D849-4A8E-8D3A-2A15B7355271}" presName="negativeSpace" presStyleCnt="0"/>
      <dgm:spPr/>
    </dgm:pt>
    <dgm:pt modelId="{D846F4D7-C8F7-3B4C-8E6D-E9EBDC978F45}" type="pres">
      <dgm:prSet presAssocID="{8DEE3811-D849-4A8E-8D3A-2A15B735527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0EC9903-5759-714B-AD75-9A0856EE9FE9}" type="presOf" srcId="{00F4EC36-8B32-4925-93E8-21859A904388}" destId="{D7044797-CC69-C947-83A2-975A83D7CE89}" srcOrd="0" destOrd="4" presId="urn:microsoft.com/office/officeart/2005/8/layout/list1"/>
    <dgm:cxn modelId="{AB2A0C1C-230A-2848-91C0-3ED209A1EAF2}" type="presOf" srcId="{2B3BEAC1-4283-4039-8897-62DDA315BFF8}" destId="{D7044797-CC69-C947-83A2-975A83D7CE89}" srcOrd="0" destOrd="1" presId="urn:microsoft.com/office/officeart/2005/8/layout/list1"/>
    <dgm:cxn modelId="{8F38332A-33BC-43FA-9D67-E830CB6025BB}" srcId="{CBD99D2E-00E7-41ED-9A57-97D15F0A75E2}" destId="{2B3BEAC1-4283-4039-8897-62DDA315BFF8}" srcOrd="1" destOrd="0" parTransId="{4E91AEEE-82D2-4E53-B6EE-571D2286B18F}" sibTransId="{B642A308-BD20-4A43-88DB-310194E25F87}"/>
    <dgm:cxn modelId="{E3F1F22C-A396-E244-A17F-D17338137E81}" srcId="{8DEE3811-D849-4A8E-8D3A-2A15B7355271}" destId="{8A5BFCCE-9D82-1643-A4D0-7F500A9C1E39}" srcOrd="2" destOrd="0" parTransId="{D7D24A00-BF86-0F4B-BD94-7F9D92652DD3}" sibTransId="{67357F82-29F8-D744-9A1D-CF311753C3BF}"/>
    <dgm:cxn modelId="{E032C841-C493-844C-B4E1-EB7F489DB46F}" srcId="{8DEE3811-D849-4A8E-8D3A-2A15B7355271}" destId="{C282B584-0D59-3945-93E6-0BABA1B8688F}" srcOrd="0" destOrd="0" parTransId="{05CE216D-1F9B-C243-84AB-57BD806E1210}" sibTransId="{A408F0F4-9A12-0042-B0A2-2A6DB30E6D94}"/>
    <dgm:cxn modelId="{B2F70155-F307-8D4C-B907-E1BB3B6325B6}" srcId="{8DEE3811-D849-4A8E-8D3A-2A15B7355271}" destId="{C31725BC-5989-624B-BBBC-DB5685A65CFA}" srcOrd="1" destOrd="0" parTransId="{99119F11-48E3-D04A-946D-368B19F3DEA3}" sibTransId="{1A23B708-CD7A-C24C-AF57-3ADCC3FB25A8}"/>
    <dgm:cxn modelId="{2B83A861-BE48-1B4B-BB49-6EE22ADEEBF6}" type="presOf" srcId="{C282B584-0D59-3945-93E6-0BABA1B8688F}" destId="{D846F4D7-C8F7-3B4C-8E6D-E9EBDC978F45}" srcOrd="0" destOrd="0" presId="urn:microsoft.com/office/officeart/2005/8/layout/list1"/>
    <dgm:cxn modelId="{96FEF263-2383-DF49-9355-36BED52A9269}" srcId="{8DEE3811-D849-4A8E-8D3A-2A15B7355271}" destId="{9877F432-D54E-D441-8928-37BCCAFD2B43}" srcOrd="4" destOrd="0" parTransId="{FDF4F351-AE31-4840-B6A9-F19D98A3179A}" sibTransId="{62C94B39-C633-7349-AA07-CBF44ABDAD67}"/>
    <dgm:cxn modelId="{B15DD167-3DDD-4C6D-98B2-108CC62FE27D}" srcId="{CBD99D2E-00E7-41ED-9A57-97D15F0A75E2}" destId="{F7E5230B-5F87-4043-BB18-959F95A1A589}" srcOrd="3" destOrd="0" parTransId="{4336F736-A1F9-4530-BE52-CD36E5B28093}" sibTransId="{471842DB-33C3-4A4F-821D-D55BF023CFC8}"/>
    <dgm:cxn modelId="{DF16E967-8C80-B04F-BC9F-419E111085D8}" type="presOf" srcId="{F7E5230B-5F87-4043-BB18-959F95A1A589}" destId="{D7044797-CC69-C947-83A2-975A83D7CE89}" srcOrd="0" destOrd="3" presId="urn:microsoft.com/office/officeart/2005/8/layout/list1"/>
    <dgm:cxn modelId="{2F0A9268-FB00-6E44-9ED8-1730EA8EF67F}" type="presOf" srcId="{C31725BC-5989-624B-BBBC-DB5685A65CFA}" destId="{D846F4D7-C8F7-3B4C-8E6D-E9EBDC978F45}" srcOrd="0" destOrd="1" presId="urn:microsoft.com/office/officeart/2005/8/layout/list1"/>
    <dgm:cxn modelId="{DD688575-9337-394D-9851-81205BE88F3B}" type="presOf" srcId="{9877F432-D54E-D441-8928-37BCCAFD2B43}" destId="{D846F4D7-C8F7-3B4C-8E6D-E9EBDC978F45}" srcOrd="0" destOrd="4" presId="urn:microsoft.com/office/officeart/2005/8/layout/list1"/>
    <dgm:cxn modelId="{61BE6F7A-1A70-1E4C-B6F8-22D2CA2FC5EE}" type="presOf" srcId="{6DE0537F-DF1E-CC4D-BFFB-84D7E3553D11}" destId="{D846F4D7-C8F7-3B4C-8E6D-E9EBDC978F45}" srcOrd="0" destOrd="3" presId="urn:microsoft.com/office/officeart/2005/8/layout/list1"/>
    <dgm:cxn modelId="{32D30088-D037-4728-A834-3C6D6985E02C}" srcId="{CBD99D2E-00E7-41ED-9A57-97D15F0A75E2}" destId="{4EC7C26D-6E3D-4489-9DB2-716ED967EBE4}" srcOrd="0" destOrd="0" parTransId="{01C77373-8769-4341-A5D8-0F2039DF0458}" sibTransId="{57096AF9-D6B8-464F-8BEE-A8D360D4A97B}"/>
    <dgm:cxn modelId="{9842F38E-9CB0-463E-B670-4A7A8BA7FDC8}" srcId="{6499E0C8-0DA4-480F-9DD0-292C5B24808E}" destId="{CBD99D2E-00E7-41ED-9A57-97D15F0A75E2}" srcOrd="0" destOrd="0" parTransId="{2EE9C864-2E37-44A4-97F9-8072FC510DE7}" sibTransId="{BDA88EA2-67E9-477D-ADA9-588CFC55169D}"/>
    <dgm:cxn modelId="{5B053496-2333-4844-B559-2EB6932E0B0E}" type="presOf" srcId="{CBD99D2E-00E7-41ED-9A57-97D15F0A75E2}" destId="{B74E43FE-6CEF-3B45-B4FC-35B997370F2D}" srcOrd="0" destOrd="0" presId="urn:microsoft.com/office/officeart/2005/8/layout/list1"/>
    <dgm:cxn modelId="{E6890C9A-AACE-BD46-8990-FA9A4CBE6F8D}" type="presOf" srcId="{8A5BFCCE-9D82-1643-A4D0-7F500A9C1E39}" destId="{D846F4D7-C8F7-3B4C-8E6D-E9EBDC978F45}" srcOrd="0" destOrd="2" presId="urn:microsoft.com/office/officeart/2005/8/layout/list1"/>
    <dgm:cxn modelId="{5E4FBA9D-1DC2-4079-818F-E16F8AF247DE}" srcId="{CBD99D2E-00E7-41ED-9A57-97D15F0A75E2}" destId="{0BEE4BB2-67C7-4F21-B927-B58BAD2EB95E}" srcOrd="2" destOrd="0" parTransId="{9A103993-1CF1-42F6-979D-F8CE939B03C6}" sibTransId="{0E6A5778-FC54-4BFF-B57C-B32E52C6FC76}"/>
    <dgm:cxn modelId="{3BB2F4A5-AD85-4AD5-832C-673BEDC8974A}" srcId="{6499E0C8-0DA4-480F-9DD0-292C5B24808E}" destId="{8DEE3811-D849-4A8E-8D3A-2A15B7355271}" srcOrd="1" destOrd="0" parTransId="{94A5B53D-D9CD-41B0-A09D-788AF5A48CF8}" sibTransId="{D7F10D31-CEBF-469A-83F4-0063D734E3C7}"/>
    <dgm:cxn modelId="{D85924B6-940C-4048-A618-5F1DABF8D634}" type="presOf" srcId="{8DEE3811-D849-4A8E-8D3A-2A15B7355271}" destId="{0FE40ABA-6B65-FD47-8C9E-9B46E0109DB7}" srcOrd="0" destOrd="0" presId="urn:microsoft.com/office/officeart/2005/8/layout/list1"/>
    <dgm:cxn modelId="{D06984BC-FD0C-2145-872E-12F990C46C8A}" type="presOf" srcId="{CBD99D2E-00E7-41ED-9A57-97D15F0A75E2}" destId="{F1C09B65-F6EA-FF48-89D3-8D098095652C}" srcOrd="1" destOrd="0" presId="urn:microsoft.com/office/officeart/2005/8/layout/list1"/>
    <dgm:cxn modelId="{D5F9C2BC-C470-8B47-AF1A-1C4F4996402C}" type="presOf" srcId="{0BEE4BB2-67C7-4F21-B927-B58BAD2EB95E}" destId="{D7044797-CC69-C947-83A2-975A83D7CE89}" srcOrd="0" destOrd="2" presId="urn:microsoft.com/office/officeart/2005/8/layout/list1"/>
    <dgm:cxn modelId="{427A65BF-DEE1-0B4C-AC80-EF41822ADBE5}" srcId="{8DEE3811-D849-4A8E-8D3A-2A15B7355271}" destId="{6DE0537F-DF1E-CC4D-BFFB-84D7E3553D11}" srcOrd="3" destOrd="0" parTransId="{6E611971-F839-8649-98AB-DC2B60523647}" sibTransId="{2DCC5D10-C466-D84F-A124-4E9AEE1DDE22}"/>
    <dgm:cxn modelId="{82A610C4-393F-4E4E-BD74-AFAA30EA41FF}" type="presOf" srcId="{6499E0C8-0DA4-480F-9DD0-292C5B24808E}" destId="{91FEA60A-52E8-544D-A135-8D95E6B4A2ED}" srcOrd="0" destOrd="0" presId="urn:microsoft.com/office/officeart/2005/8/layout/list1"/>
    <dgm:cxn modelId="{008304C6-C75D-684F-BA71-1C1B84A7D7A9}" type="presOf" srcId="{8DEE3811-D849-4A8E-8D3A-2A15B7355271}" destId="{BBD17634-EA88-4F46-85CD-143595E24225}" srcOrd="1" destOrd="0" presId="urn:microsoft.com/office/officeart/2005/8/layout/list1"/>
    <dgm:cxn modelId="{545C59DB-CA00-4446-9C82-0BDA48DEC0A6}" type="presOf" srcId="{4EC7C26D-6E3D-4489-9DB2-716ED967EBE4}" destId="{D7044797-CC69-C947-83A2-975A83D7CE89}" srcOrd="0" destOrd="0" presId="urn:microsoft.com/office/officeart/2005/8/layout/list1"/>
    <dgm:cxn modelId="{73DD91F2-FBD8-4C74-B471-812693D14C74}" srcId="{CBD99D2E-00E7-41ED-9A57-97D15F0A75E2}" destId="{00F4EC36-8B32-4925-93E8-21859A904388}" srcOrd="4" destOrd="0" parTransId="{D6A19273-E142-40E9-91B0-06C6DF34948A}" sibTransId="{44AAF43E-086A-4E64-90C2-384A90534504}"/>
    <dgm:cxn modelId="{7AC2163D-E1AA-FD45-A183-3858ED0B536E}" type="presParOf" srcId="{91FEA60A-52E8-544D-A135-8D95E6B4A2ED}" destId="{8F581BE7-91D6-6244-A7CB-12BCDCAB05FB}" srcOrd="0" destOrd="0" presId="urn:microsoft.com/office/officeart/2005/8/layout/list1"/>
    <dgm:cxn modelId="{FEDF564D-388F-194F-B97E-634295B355DF}" type="presParOf" srcId="{8F581BE7-91D6-6244-A7CB-12BCDCAB05FB}" destId="{B74E43FE-6CEF-3B45-B4FC-35B997370F2D}" srcOrd="0" destOrd="0" presId="urn:microsoft.com/office/officeart/2005/8/layout/list1"/>
    <dgm:cxn modelId="{5D910517-BA6D-FC4B-B7C6-9C4827785F56}" type="presParOf" srcId="{8F581BE7-91D6-6244-A7CB-12BCDCAB05FB}" destId="{F1C09B65-F6EA-FF48-89D3-8D098095652C}" srcOrd="1" destOrd="0" presId="urn:microsoft.com/office/officeart/2005/8/layout/list1"/>
    <dgm:cxn modelId="{8C484A10-0BF5-854D-BC40-AA0AD35C5CB2}" type="presParOf" srcId="{91FEA60A-52E8-544D-A135-8D95E6B4A2ED}" destId="{750F8299-656E-114D-893E-DA1B0651C6A2}" srcOrd="1" destOrd="0" presId="urn:microsoft.com/office/officeart/2005/8/layout/list1"/>
    <dgm:cxn modelId="{9BA44974-B628-E94B-AD19-F89A6CD6E365}" type="presParOf" srcId="{91FEA60A-52E8-544D-A135-8D95E6B4A2ED}" destId="{D7044797-CC69-C947-83A2-975A83D7CE89}" srcOrd="2" destOrd="0" presId="urn:microsoft.com/office/officeart/2005/8/layout/list1"/>
    <dgm:cxn modelId="{67753709-6B7A-C243-A77E-6B8C26F35B6B}" type="presParOf" srcId="{91FEA60A-52E8-544D-A135-8D95E6B4A2ED}" destId="{6BC507BF-DC6D-6F4F-9794-E338F97473E4}" srcOrd="3" destOrd="0" presId="urn:microsoft.com/office/officeart/2005/8/layout/list1"/>
    <dgm:cxn modelId="{862F816E-D7D3-494E-97F4-1D40F9BB90C2}" type="presParOf" srcId="{91FEA60A-52E8-544D-A135-8D95E6B4A2ED}" destId="{2CF81154-CA30-C34F-96AD-EA2B02FD5923}" srcOrd="4" destOrd="0" presId="urn:microsoft.com/office/officeart/2005/8/layout/list1"/>
    <dgm:cxn modelId="{62777AA9-1336-9242-9B76-2B0E66A16DEE}" type="presParOf" srcId="{2CF81154-CA30-C34F-96AD-EA2B02FD5923}" destId="{0FE40ABA-6B65-FD47-8C9E-9B46E0109DB7}" srcOrd="0" destOrd="0" presId="urn:microsoft.com/office/officeart/2005/8/layout/list1"/>
    <dgm:cxn modelId="{10834F74-DEFD-5443-ACA1-A706B3CE05D3}" type="presParOf" srcId="{2CF81154-CA30-C34F-96AD-EA2B02FD5923}" destId="{BBD17634-EA88-4F46-85CD-143595E24225}" srcOrd="1" destOrd="0" presId="urn:microsoft.com/office/officeart/2005/8/layout/list1"/>
    <dgm:cxn modelId="{D373AD16-DC8D-7540-99AF-8F8971FC3FA9}" type="presParOf" srcId="{91FEA60A-52E8-544D-A135-8D95E6B4A2ED}" destId="{274230ED-BB44-C84C-9E83-44FF6BE41422}" srcOrd="5" destOrd="0" presId="urn:microsoft.com/office/officeart/2005/8/layout/list1"/>
    <dgm:cxn modelId="{0B08F72E-86EB-DA4C-AE07-BE69D136068D}" type="presParOf" srcId="{91FEA60A-52E8-544D-A135-8D95E6B4A2ED}" destId="{D846F4D7-C8F7-3B4C-8E6D-E9EBDC978F4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44797-CC69-C947-83A2-975A83D7CE89}">
      <dsp:nvSpPr>
        <dsp:cNvPr id="0" name=""/>
        <dsp:cNvSpPr/>
      </dsp:nvSpPr>
      <dsp:spPr>
        <a:xfrm>
          <a:off x="0" y="309069"/>
          <a:ext cx="10515600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Drugs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Proteins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Cells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Conditions / Diseases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Biomarkers </a:t>
          </a:r>
        </a:p>
      </dsp:txBody>
      <dsp:txXfrm>
        <a:off x="0" y="309069"/>
        <a:ext cx="10515600" cy="1820700"/>
      </dsp:txXfrm>
    </dsp:sp>
    <dsp:sp modelId="{F1C09B65-F6EA-FF48-89D3-8D098095652C}">
      <dsp:nvSpPr>
        <dsp:cNvPr id="0" name=""/>
        <dsp:cNvSpPr/>
      </dsp:nvSpPr>
      <dsp:spPr>
        <a:xfrm>
          <a:off x="525780" y="58149"/>
          <a:ext cx="7360920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Node types with the highest proportion of “2” labels (i.e. high bias): </a:t>
          </a:r>
        </a:p>
      </dsp:txBody>
      <dsp:txXfrm>
        <a:off x="550278" y="82647"/>
        <a:ext cx="7311924" cy="452844"/>
      </dsp:txXfrm>
    </dsp:sp>
    <dsp:sp modelId="{D846F4D7-C8F7-3B4C-8E6D-E9EBDC978F45}">
      <dsp:nvSpPr>
        <dsp:cNvPr id="0" name=""/>
        <dsp:cNvSpPr/>
      </dsp:nvSpPr>
      <dsp:spPr>
        <a:xfrm>
          <a:off x="0" y="2472489"/>
          <a:ext cx="10515600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Risk Factors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Imaging 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Cognitive Tests 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Clinical Trials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Pathological Features  </a:t>
          </a:r>
        </a:p>
      </dsp:txBody>
      <dsp:txXfrm>
        <a:off x="0" y="2472489"/>
        <a:ext cx="10515600" cy="1820700"/>
      </dsp:txXfrm>
    </dsp:sp>
    <dsp:sp modelId="{BBD17634-EA88-4F46-85CD-143595E24225}">
      <dsp:nvSpPr>
        <dsp:cNvPr id="0" name=""/>
        <dsp:cNvSpPr/>
      </dsp:nvSpPr>
      <dsp:spPr>
        <a:xfrm>
          <a:off x="525780" y="2221569"/>
          <a:ext cx="7360920" cy="5018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Node types with the highest proportion of “1” labels (i.e. normal bias):</a:t>
          </a:r>
        </a:p>
      </dsp:txBody>
      <dsp:txXfrm>
        <a:off x="550278" y="2246067"/>
        <a:ext cx="731192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AB0BF-3668-4A4F-B822-6920D2012AC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17A2D-BEEE-A146-A3BA-5E14142C9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6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17A2D-BEEE-A146-A3BA-5E14142C98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9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1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91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0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4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02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5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4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6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4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C2E20-DB3B-A249-9F25-80D1EBA1D53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FB20E-D518-F24E-BF89-F6BD2D54F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9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7921-1E44-9F90-0259-C9C265E17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8E135-3BE7-8CA1-AADB-51BCA22AF5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Randeep Chahal</a:t>
            </a:r>
          </a:p>
        </p:txBody>
      </p:sp>
    </p:spTree>
    <p:extLst>
      <p:ext uri="{BB962C8B-B14F-4D97-AF65-F5344CB8AC3E}">
        <p14:creationId xmlns:p14="http://schemas.microsoft.com/office/powerpoint/2010/main" val="275389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D07AE-DA98-2448-4EE2-EAFAAC9F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Bias/Trust Analysis in Healthcare AI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3931A-4977-523D-6B61-0CB3470FF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703208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u="sng" dirty="0"/>
              <a:t>Topic: Alzheimer’s Disease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Article #1: “Stepwise Approach to Alzheimer’s Disease Diagnosis in Primary Care Using Cognitive Screening, Risk Factors, Neuroimaging and Plasma Biomarkers”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dirty="0"/>
              <a:t>Article #2: “A Review of the Current Status of Disease-Modifying Therapies and Prevention of Alzheimer’s Disease.”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Article #3: “Recent Advances in Alzheimer’s Disease: Mechanisms, Clinical Trials and New Drug Development Strategies.”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215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5707C-F410-09F1-E7C1-15FEBBD0A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Pipeline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257C00-3955-4A7A-C022-9ADFFB296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19345"/>
            <a:ext cx="7225748" cy="541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6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F6354-5B09-01CB-EAFD-1782C787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4650" y="637763"/>
            <a:ext cx="4310698" cy="1627274"/>
          </a:xfrm>
        </p:spPr>
        <p:txBody>
          <a:bodyPr anchor="t">
            <a:normAutofit/>
          </a:bodyPr>
          <a:lstStyle/>
          <a:p>
            <a:r>
              <a:rPr lang="en-US" sz="4800"/>
              <a:t>Knowledge Graph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79848" y="237994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circle of colorful dots&#10;&#10;AI-generated content may be incorrect.">
            <a:extLst>
              <a:ext uri="{FF2B5EF4-FFF2-40B4-BE49-F238E27FC236}">
                <a16:creationId xmlns:a16="http://schemas.microsoft.com/office/drawing/2014/main" id="{385FBB83-DB6C-A224-306E-1784D1B3D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451"/>
          <a:stretch>
            <a:fillRect/>
          </a:stretch>
        </p:blipFill>
        <p:spPr>
          <a:xfrm>
            <a:off x="-1" y="-1"/>
            <a:ext cx="6078563" cy="6858001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CB973C0-AA58-4D42-81B2-63D2F39B9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361" y="2580829"/>
            <a:ext cx="4311983" cy="3633696"/>
          </a:xfrm>
        </p:spPr>
        <p:txBody>
          <a:bodyPr>
            <a:normAutofit/>
          </a:bodyPr>
          <a:lstStyle/>
          <a:p>
            <a:r>
              <a:rPr lang="en-US" sz="2000" dirty="0"/>
              <a:t>Most Frequent Node Types – </a:t>
            </a:r>
          </a:p>
          <a:p>
            <a:pPr lvl="1"/>
            <a:r>
              <a:rPr lang="en-US" sz="2000" dirty="0"/>
              <a:t>Drugs </a:t>
            </a:r>
          </a:p>
          <a:p>
            <a:pPr lvl="1"/>
            <a:r>
              <a:rPr lang="en-US" sz="2000" dirty="0"/>
              <a:t>Cells </a:t>
            </a:r>
          </a:p>
          <a:p>
            <a:pPr lvl="1"/>
            <a:r>
              <a:rPr lang="en-US" sz="2000" dirty="0"/>
              <a:t>Proteins</a:t>
            </a:r>
          </a:p>
          <a:p>
            <a:pPr lvl="1"/>
            <a:r>
              <a:rPr lang="en-US" sz="2000" dirty="0"/>
              <a:t>Risk Factors </a:t>
            </a:r>
          </a:p>
        </p:txBody>
      </p:sp>
    </p:spTree>
    <p:extLst>
      <p:ext uri="{BB962C8B-B14F-4D97-AF65-F5344CB8AC3E}">
        <p14:creationId xmlns:p14="http://schemas.microsoft.com/office/powerpoint/2010/main" val="384466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3C0638-BF20-CE7A-7711-027E3944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Knowledge Graph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F6C64-BFA3-BC12-1EF9-851F43E1F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53501"/>
            <a:ext cx="9724031" cy="4068089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/>
              <a:t> Node types with the highest total node degrees </a:t>
            </a:r>
            <a:r>
              <a:rPr lang="en-US" sz="2000" dirty="0">
                <a:sym typeface="Wingdings" pitchFamily="2" charset="2"/>
              </a:rPr>
              <a:t>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Protein (54)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Drug (34)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Condition / Disease (33)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Risk Factor (20)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Biomarker (15) </a:t>
            </a:r>
          </a:p>
          <a:p>
            <a:pPr marL="457200" lvl="1" indent="0">
              <a:buNone/>
            </a:pPr>
            <a:endParaRPr lang="en-US" sz="2000" dirty="0">
              <a:sym typeface="Wingdings" pitchFamily="2" charset="2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Node types with highest average connection density 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Clinical Trials (1.0)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Cognitive Tests (1.0)</a:t>
            </a:r>
          </a:p>
        </p:txBody>
      </p:sp>
    </p:spTree>
    <p:extLst>
      <p:ext uri="{BB962C8B-B14F-4D97-AF65-F5344CB8AC3E}">
        <p14:creationId xmlns:p14="http://schemas.microsoft.com/office/powerpoint/2010/main" val="85304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image of a blue and yellow light&#10;&#10;AI-generated content may be incorrect.">
            <a:extLst>
              <a:ext uri="{FF2B5EF4-FFF2-40B4-BE49-F238E27FC236}">
                <a16:creationId xmlns:a16="http://schemas.microsoft.com/office/drawing/2014/main" id="{08329C82-2DD2-04D3-34C4-86EDE3E8099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544" r="3041" b="1274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86ED5-1E6D-C1CD-3347-07E60AB9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GNN Bias Level Predictions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B5492F-71D1-3627-93AF-146E0C113C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2884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3702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2261C-CA1E-B3EB-36D0-5926E4E5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170" y="664359"/>
            <a:ext cx="7049660" cy="809676"/>
          </a:xfrm>
        </p:spPr>
        <p:txBody>
          <a:bodyPr anchor="b">
            <a:normAutofit/>
          </a:bodyPr>
          <a:lstStyle/>
          <a:p>
            <a:r>
              <a:rPr lang="en-US" sz="4000" dirty="0"/>
              <a:t>Textual Indicators (NLP Metrics)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19429-BFED-0B3C-F2A4-3818B1AE8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/>
              <a:t>Sentiment Scores </a:t>
            </a:r>
            <a:r>
              <a:rPr lang="en-US" sz="2000">
                <a:sym typeface="Wingdings" pitchFamily="2" charset="2"/>
              </a:rPr>
              <a:t> </a:t>
            </a:r>
          </a:p>
          <a:p>
            <a:pPr lvl="1"/>
            <a:r>
              <a:rPr lang="en-US" sz="2000">
                <a:sym typeface="Wingdings" pitchFamily="2" charset="2"/>
              </a:rPr>
              <a:t>Positive: 0.111</a:t>
            </a:r>
          </a:p>
          <a:p>
            <a:pPr lvl="1"/>
            <a:r>
              <a:rPr lang="en-US" sz="2000">
                <a:sym typeface="Wingdings" pitchFamily="2" charset="2"/>
              </a:rPr>
              <a:t>Negative: 0.088</a:t>
            </a:r>
          </a:p>
          <a:p>
            <a:pPr lvl="1"/>
            <a:r>
              <a:rPr lang="en-US" sz="2000">
                <a:sym typeface="Wingdings" pitchFamily="2" charset="2"/>
              </a:rPr>
              <a:t>Neutral: 0.801</a:t>
            </a:r>
          </a:p>
          <a:p>
            <a:endParaRPr lang="en-US" sz="2000">
              <a:sym typeface="Wingdings" pitchFamily="2" charset="2"/>
            </a:endParaRPr>
          </a:p>
          <a:p>
            <a:r>
              <a:rPr lang="en-US" sz="2000">
                <a:sym typeface="Wingdings" pitchFamily="2" charset="2"/>
              </a:rPr>
              <a:t>Coverage Analysis  </a:t>
            </a:r>
          </a:p>
          <a:p>
            <a:pPr lvl="1"/>
            <a:r>
              <a:rPr lang="en-US" sz="2000">
                <a:sym typeface="Wingdings" pitchFamily="2" charset="2"/>
              </a:rPr>
              <a:t>Lexical Diversity Ratio: 0.2377 </a:t>
            </a:r>
          </a:p>
          <a:p>
            <a:pPr lvl="1"/>
            <a:endParaRPr lang="en-US" sz="2000">
              <a:sym typeface="Wingdings" pitchFamily="2" charset="2"/>
            </a:endParaRPr>
          </a:p>
          <a:p>
            <a:pPr lvl="1"/>
            <a:endParaRPr lang="en-US" sz="20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9D23FA-D083-537E-B4BD-B6FCEE9AA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72" b="74970"/>
          <a:stretch>
            <a:fillRect/>
          </a:stretch>
        </p:blipFill>
        <p:spPr>
          <a:xfrm>
            <a:off x="6261414" y="2146728"/>
            <a:ext cx="5218273" cy="3140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81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3623D-9330-67C7-7736-C9862416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Most Frequent Words and Bigrams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CDAD5A-082F-D7C5-18AA-787091FB1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7" r="54872"/>
          <a:stretch>
            <a:fillRect/>
          </a:stretch>
        </p:blipFill>
        <p:spPr>
          <a:xfrm>
            <a:off x="6723106" y="466993"/>
            <a:ext cx="285630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52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2E3F70-17D1-CF4B-41DF-6FA5DE05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Final 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F63D6-B3B7-0BD7-FAA3-09177550B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49755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/>
              <a:t>Within the context of the Alzheimer’s articles </a:t>
            </a:r>
            <a:r>
              <a:rPr lang="en-US" sz="2000" dirty="0">
                <a:sym typeface="Wingdings" pitchFamily="2" charset="2"/>
              </a:rPr>
              <a:t> </a:t>
            </a:r>
            <a:endParaRPr lang="en-US" sz="2000" dirty="0"/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There was a higher bias towards the inclusion of drugs, cells, and proteins over cognitive testing, risk factors, and pathological features </a:t>
            </a:r>
          </a:p>
          <a:p>
            <a:pPr>
              <a:buFont typeface="Wingdings" pitchFamily="2" charset="2"/>
              <a:buChar char="§"/>
            </a:pPr>
            <a:endParaRPr lang="en-US" sz="20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General conclusion about A.I. Effectiveness </a:t>
            </a:r>
            <a:r>
              <a:rPr lang="en-US" sz="2000" dirty="0">
                <a:sym typeface="Wingdings" pitchFamily="2" charset="2"/>
              </a:rPr>
              <a:t>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LLMs place a high precedence on the inclusion of technical subject matter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ym typeface="Wingdings" pitchFamily="2" charset="2"/>
              </a:rPr>
              <a:t>Researchers utilizing A.I. risk getting caught up in medical jargon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2557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D479-C14D-0286-DA47-33743BEE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39227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116</TotalTime>
  <Words>314</Words>
  <Application>Microsoft Macintosh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Courier New</vt:lpstr>
      <vt:lpstr>Wingdings</vt:lpstr>
      <vt:lpstr>Office 2013 - 2022 Theme</vt:lpstr>
      <vt:lpstr>Final Project Presentation</vt:lpstr>
      <vt:lpstr>Bias/Trust Analysis in Healthcare AI Summaries</vt:lpstr>
      <vt:lpstr>Project Pipeline</vt:lpstr>
      <vt:lpstr>Knowledge Graph</vt:lpstr>
      <vt:lpstr>Knowledge Graph Features </vt:lpstr>
      <vt:lpstr>GNN Bias Level Predictions</vt:lpstr>
      <vt:lpstr>Textual Indicators (NLP Metrics)</vt:lpstr>
      <vt:lpstr>Most Frequent Words and Bigrams </vt:lpstr>
      <vt:lpstr>Final Takeaways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C</dc:creator>
  <cp:lastModifiedBy>R C</cp:lastModifiedBy>
  <cp:revision>12</cp:revision>
  <dcterms:created xsi:type="dcterms:W3CDTF">2025-12-08T20:14:34Z</dcterms:created>
  <dcterms:modified xsi:type="dcterms:W3CDTF">2025-12-08T22:11:33Z</dcterms:modified>
</cp:coreProperties>
</file>